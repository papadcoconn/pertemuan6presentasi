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etropix" charset="1" panose="00000000000000000000"/>
      <p:regular r:id="rId21"/>
    </p:embeddedFont>
    <p:embeddedFont>
      <p:font typeface="Inter" charset="1" panose="02000503000000020004"/>
      <p:regular r:id="rId22"/>
    </p:embeddedFont>
    <p:embeddedFont>
      <p:font typeface="Inter Bold" charset="1" panose="02000503000000020004"/>
      <p:regular r:id="rId23"/>
    </p:embeddedFont>
    <p:embeddedFont>
      <p:font typeface="Open Sans" charset="1" panose="020B0606030504020204"/>
      <p:regular r:id="rId24"/>
    </p:embeddedFont>
    <p:embeddedFont>
      <p:font typeface="League Spartan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44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701881">
            <a:off x="15325635" y="6007065"/>
            <a:ext cx="1752722" cy="2984512"/>
          </a:xfrm>
          <a:custGeom>
            <a:avLst/>
            <a:gdLst/>
            <a:ahLst/>
            <a:cxnLst/>
            <a:rect r="r" b="b" t="t" l="l"/>
            <a:pathLst>
              <a:path h="2984512" w="1752722">
                <a:moveTo>
                  <a:pt x="0" y="0"/>
                </a:moveTo>
                <a:lnTo>
                  <a:pt x="1752722" y="0"/>
                </a:lnTo>
                <a:lnTo>
                  <a:pt x="1752722" y="2984511"/>
                </a:lnTo>
                <a:lnTo>
                  <a:pt x="0" y="2984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91936" y="3186737"/>
            <a:ext cx="12104128" cy="383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1"/>
              </a:lnSpc>
            </a:pPr>
            <a:r>
              <a:rPr lang="en-US" sz="13133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PERULANGAN WHILE</a:t>
            </a:r>
            <a:r>
              <a:rPr lang="en-US" sz="13133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900275">
            <a:off x="584024" y="2216110"/>
            <a:ext cx="3319587" cy="2540993"/>
          </a:xfrm>
          <a:custGeom>
            <a:avLst/>
            <a:gdLst/>
            <a:ahLst/>
            <a:cxnLst/>
            <a:rect r="r" b="b" t="t" l="l"/>
            <a:pathLst>
              <a:path h="2540993" w="3319587">
                <a:moveTo>
                  <a:pt x="0" y="0"/>
                </a:moveTo>
                <a:lnTo>
                  <a:pt x="3319587" y="0"/>
                </a:lnTo>
                <a:lnTo>
                  <a:pt x="3319587" y="2540993"/>
                </a:lnTo>
                <a:lnTo>
                  <a:pt x="0" y="25409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842015">
            <a:off x="13039485" y="613000"/>
            <a:ext cx="2489634" cy="2408155"/>
          </a:xfrm>
          <a:custGeom>
            <a:avLst/>
            <a:gdLst/>
            <a:ahLst/>
            <a:cxnLst/>
            <a:rect r="r" b="b" t="t" l="l"/>
            <a:pathLst>
              <a:path h="2408155" w="2489634">
                <a:moveTo>
                  <a:pt x="0" y="0"/>
                </a:moveTo>
                <a:lnTo>
                  <a:pt x="2489634" y="0"/>
                </a:lnTo>
                <a:lnTo>
                  <a:pt x="2489634" y="2408155"/>
                </a:lnTo>
                <a:lnTo>
                  <a:pt x="0" y="24081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37661">
            <a:off x="4370907" y="7434535"/>
            <a:ext cx="2493214" cy="2493214"/>
          </a:xfrm>
          <a:custGeom>
            <a:avLst/>
            <a:gdLst/>
            <a:ahLst/>
            <a:cxnLst/>
            <a:rect r="r" b="b" t="t" l="l"/>
            <a:pathLst>
              <a:path h="2493214" w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-1697238" y="7144587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6590762" y="1429370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345478" y="7014538"/>
            <a:ext cx="5573541" cy="149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0"/>
              </a:lnSpc>
            </a:pPr>
            <a:r>
              <a:rPr lang="en-US" sz="216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KELOMPOK 2</a:t>
            </a:r>
          </a:p>
          <a:p>
            <a:pPr algn="ctr">
              <a:lnSpc>
                <a:spcPts val="2290"/>
              </a:lnSpc>
            </a:pPr>
            <a:r>
              <a:rPr lang="en-US" sz="216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 AQDAM</a:t>
            </a:r>
          </a:p>
          <a:p>
            <a:pPr algn="ctr">
              <a:lnSpc>
                <a:spcPts val="2290"/>
              </a:lnSpc>
            </a:pPr>
            <a:r>
              <a:rPr lang="en-US" sz="216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 RAFLI PAQIHATUR </a:t>
            </a:r>
          </a:p>
          <a:p>
            <a:pPr algn="ctr">
              <a:lnSpc>
                <a:spcPts val="2290"/>
              </a:lnSpc>
            </a:pPr>
          </a:p>
          <a:p>
            <a:pPr algn="ctr">
              <a:lnSpc>
                <a:spcPts val="229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697238" y="7144587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90762" y="1429370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03892">
            <a:off x="931599" y="1765939"/>
            <a:ext cx="3278922" cy="3183535"/>
          </a:xfrm>
          <a:custGeom>
            <a:avLst/>
            <a:gdLst/>
            <a:ahLst/>
            <a:cxnLst/>
            <a:rect r="r" b="b" t="t" l="l"/>
            <a:pathLst>
              <a:path h="3183535" w="3278922">
                <a:moveTo>
                  <a:pt x="0" y="0"/>
                </a:moveTo>
                <a:lnTo>
                  <a:pt x="3278922" y="0"/>
                </a:lnTo>
                <a:lnTo>
                  <a:pt x="3278922" y="3183535"/>
                </a:lnTo>
                <a:lnTo>
                  <a:pt x="0" y="3183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53069" y="5143500"/>
            <a:ext cx="2935223" cy="2935223"/>
          </a:xfrm>
          <a:custGeom>
            <a:avLst/>
            <a:gdLst/>
            <a:ahLst/>
            <a:cxnLst/>
            <a:rect r="r" b="b" t="t" l="l"/>
            <a:pathLst>
              <a:path h="2935223" w="2935223">
                <a:moveTo>
                  <a:pt x="0" y="0"/>
                </a:moveTo>
                <a:lnTo>
                  <a:pt x="2935223" y="0"/>
                </a:lnTo>
                <a:lnTo>
                  <a:pt x="2935223" y="2935223"/>
                </a:lnTo>
                <a:lnTo>
                  <a:pt x="0" y="29352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34740" y="3088881"/>
            <a:ext cx="9521511" cy="122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PENGERTIAN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60314" y="4810599"/>
            <a:ext cx="10367373" cy="209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3"/>
              </a:lnSpc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perulangan while adalah struktur kontrol dalam pemrograman yang digunakan untuk mengeksekusi blok kode secara berulang selama kondisi tertentu bernilai benar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2819" y="2188050"/>
            <a:ext cx="7695104" cy="6883432"/>
            <a:chOff x="0" y="0"/>
            <a:chExt cx="2026694" cy="1812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6694" cy="1812920"/>
            </a:xfrm>
            <a:custGeom>
              <a:avLst/>
              <a:gdLst/>
              <a:ahLst/>
              <a:cxnLst/>
              <a:rect r="r" b="b" t="t" l="l"/>
              <a:pathLst>
                <a:path h="1812920" w="2026694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24110" y="1873489"/>
            <a:ext cx="7695104" cy="6883432"/>
            <a:chOff x="0" y="0"/>
            <a:chExt cx="2026694" cy="1812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6694" cy="1812920"/>
            </a:xfrm>
            <a:custGeom>
              <a:avLst/>
              <a:gdLst/>
              <a:ahLst/>
              <a:cxnLst/>
              <a:rect r="r" b="b" t="t" l="l"/>
              <a:pathLst>
                <a:path h="1812920" w="2026694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58564" y="796348"/>
            <a:ext cx="2783403" cy="2783403"/>
          </a:xfrm>
          <a:custGeom>
            <a:avLst/>
            <a:gdLst/>
            <a:ahLst/>
            <a:cxnLst/>
            <a:rect r="r" b="b" t="t" l="l"/>
            <a:pathLst>
              <a:path h="2783403" w="2783403">
                <a:moveTo>
                  <a:pt x="0" y="0"/>
                </a:moveTo>
                <a:lnTo>
                  <a:pt x="2783403" y="0"/>
                </a:lnTo>
                <a:lnTo>
                  <a:pt x="2783403" y="2783403"/>
                </a:lnTo>
                <a:lnTo>
                  <a:pt x="0" y="2783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2728" y="7865064"/>
            <a:ext cx="1783714" cy="1783714"/>
          </a:xfrm>
          <a:custGeom>
            <a:avLst/>
            <a:gdLst/>
            <a:ahLst/>
            <a:cxnLst/>
            <a:rect r="r" b="b" t="t" l="l"/>
            <a:pathLst>
              <a:path h="1783714" w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79819" y="3724607"/>
            <a:ext cx="5183686" cy="314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893" indent="-342946" lvl="1">
              <a:lnSpc>
                <a:spcPts val="4193"/>
              </a:lnSpc>
              <a:buAutoNum type="arabicPeriod" startAt="1"/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pengecekan di awal</a:t>
            </a:r>
          </a:p>
          <a:p>
            <a:pPr algn="l">
              <a:lnSpc>
                <a:spcPts val="4193"/>
              </a:lnSpc>
            </a:pPr>
          </a:p>
          <a:p>
            <a:pPr algn="l" marL="685893" indent="-342946" lvl="1">
              <a:lnSpc>
                <a:spcPts val="4193"/>
              </a:lnSpc>
              <a:buAutoNum type="arabicPeriod" startAt="1"/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jumlah perulangan tidak pasti</a:t>
            </a:r>
          </a:p>
          <a:p>
            <a:pPr algn="l">
              <a:lnSpc>
                <a:spcPts val="4193"/>
              </a:lnSpc>
            </a:pPr>
          </a:p>
          <a:p>
            <a:pPr algn="l" marL="685893" indent="-342946" lvl="1">
              <a:lnSpc>
                <a:spcPts val="4193"/>
              </a:lnSpc>
              <a:buAutoNum type="arabicPeriod" startAt="1"/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potensi infinite loop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88748"/>
            <a:ext cx="7790623" cy="226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775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KARAKTERISTIK UTAMA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-1235136" y="131214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6590762" y="763126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419" y="5205165"/>
            <a:ext cx="9214116" cy="3928579"/>
            <a:chOff x="0" y="0"/>
            <a:chExt cx="2426763" cy="1034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6763" cy="1034688"/>
            </a:xfrm>
            <a:custGeom>
              <a:avLst/>
              <a:gdLst/>
              <a:ahLst/>
              <a:cxnLst/>
              <a:rect r="r" b="b" t="t" l="l"/>
              <a:pathLst>
                <a:path h="1034688" w="2426763">
                  <a:moveTo>
                    <a:pt x="0" y="0"/>
                  </a:moveTo>
                  <a:lnTo>
                    <a:pt x="2426763" y="0"/>
                  </a:lnTo>
                  <a:lnTo>
                    <a:pt x="2426763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26763" cy="1072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3217" y="4911117"/>
            <a:ext cx="9352718" cy="3928579"/>
            <a:chOff x="0" y="0"/>
            <a:chExt cx="2463267" cy="10346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3267" cy="1034688"/>
            </a:xfrm>
            <a:custGeom>
              <a:avLst/>
              <a:gdLst/>
              <a:ahLst/>
              <a:cxnLst/>
              <a:rect r="r" b="b" t="t" l="l"/>
              <a:pathLst>
                <a:path h="1034688" w="2463267">
                  <a:moveTo>
                    <a:pt x="0" y="0"/>
                  </a:moveTo>
                  <a:lnTo>
                    <a:pt x="2463267" y="0"/>
                  </a:lnTo>
                  <a:lnTo>
                    <a:pt x="2463267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63267" cy="1072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2592" y="3961221"/>
            <a:ext cx="5077823" cy="1403326"/>
          </a:xfrm>
          <a:custGeom>
            <a:avLst/>
            <a:gdLst/>
            <a:ahLst/>
            <a:cxnLst/>
            <a:rect r="r" b="b" t="t" l="l"/>
            <a:pathLst>
              <a:path h="1403326" w="5077823">
                <a:moveTo>
                  <a:pt x="0" y="0"/>
                </a:moveTo>
                <a:lnTo>
                  <a:pt x="5077822" y="0"/>
                </a:lnTo>
                <a:lnTo>
                  <a:pt x="5077822" y="1403325"/>
                </a:lnTo>
                <a:lnTo>
                  <a:pt x="0" y="1403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72592" y="2012375"/>
            <a:ext cx="5077823" cy="1403326"/>
          </a:xfrm>
          <a:custGeom>
            <a:avLst/>
            <a:gdLst/>
            <a:ahLst/>
            <a:cxnLst/>
            <a:rect r="r" b="b" t="t" l="l"/>
            <a:pathLst>
              <a:path h="1403326" w="5077823">
                <a:moveTo>
                  <a:pt x="0" y="0"/>
                </a:moveTo>
                <a:lnTo>
                  <a:pt x="5077822" y="0"/>
                </a:lnTo>
                <a:lnTo>
                  <a:pt x="5077822" y="1403326"/>
                </a:lnTo>
                <a:lnTo>
                  <a:pt x="0" y="1403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72592" y="7854974"/>
            <a:ext cx="5077823" cy="1403326"/>
          </a:xfrm>
          <a:custGeom>
            <a:avLst/>
            <a:gdLst/>
            <a:ahLst/>
            <a:cxnLst/>
            <a:rect r="r" b="b" t="t" l="l"/>
            <a:pathLst>
              <a:path h="1403326" w="5077823">
                <a:moveTo>
                  <a:pt x="0" y="0"/>
                </a:moveTo>
                <a:lnTo>
                  <a:pt x="5077822" y="0"/>
                </a:lnTo>
                <a:lnTo>
                  <a:pt x="5077822" y="1403326"/>
                </a:lnTo>
                <a:lnTo>
                  <a:pt x="0" y="1403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72592" y="5910066"/>
            <a:ext cx="5077823" cy="1403326"/>
          </a:xfrm>
          <a:custGeom>
            <a:avLst/>
            <a:gdLst/>
            <a:ahLst/>
            <a:cxnLst/>
            <a:rect r="r" b="b" t="t" l="l"/>
            <a:pathLst>
              <a:path h="1403326" w="5077823">
                <a:moveTo>
                  <a:pt x="0" y="0"/>
                </a:moveTo>
                <a:lnTo>
                  <a:pt x="5077822" y="0"/>
                </a:lnTo>
                <a:lnTo>
                  <a:pt x="5077822" y="1403326"/>
                </a:lnTo>
                <a:lnTo>
                  <a:pt x="0" y="1403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30823" y="1964750"/>
            <a:ext cx="8846712" cy="122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775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FUNSI DAN TUJUAN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-1921258" y="63115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7174582" y="1002668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30823" y="5374314"/>
            <a:ext cx="8043818" cy="246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fungsi:</a:t>
            </a:r>
          </a:p>
          <a:p>
            <a:pPr algn="l">
              <a:lnSpc>
                <a:spcPts val="3929"/>
              </a:lnSpc>
            </a:pP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untuk menjalankan sekumpulan blok kode secara berulang-ulang selama kondisi (yang biasanya berupa ekspresi boolean) bernilai benar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697238" y="7144587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90762" y="1429370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2493214" cy="2493214"/>
          </a:xfrm>
          <a:custGeom>
            <a:avLst/>
            <a:gdLst/>
            <a:ahLst/>
            <a:cxnLst/>
            <a:rect r="r" b="b" t="t" l="l"/>
            <a:pathLst>
              <a:path h="2493214" w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34354" y="6390107"/>
            <a:ext cx="2724946" cy="2724946"/>
          </a:xfrm>
          <a:custGeom>
            <a:avLst/>
            <a:gdLst/>
            <a:ahLst/>
            <a:cxnLst/>
            <a:rect r="r" b="b" t="t" l="l"/>
            <a:pathLst>
              <a:path h="2724946" w="2724946">
                <a:moveTo>
                  <a:pt x="0" y="0"/>
                </a:moveTo>
                <a:lnTo>
                  <a:pt x="2724946" y="0"/>
                </a:lnTo>
                <a:lnTo>
                  <a:pt x="2724946" y="2724946"/>
                </a:lnTo>
                <a:lnTo>
                  <a:pt x="0" y="2724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83245" y="2468247"/>
            <a:ext cx="9521511" cy="122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TUJUAN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60108" y="4773577"/>
            <a:ext cx="11167784" cy="2789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8"/>
              </a:lnSpc>
            </a:pPr>
            <a:r>
              <a:rPr lang="en-US" sz="213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tujuan:</a:t>
            </a:r>
          </a:p>
          <a:p>
            <a:pPr algn="just">
              <a:lnSpc>
                <a:spcPts val="2818"/>
              </a:lnSpc>
            </a:pPr>
          </a:p>
          <a:p>
            <a:pPr algn="just" marL="460989" indent="-230495" lvl="1">
              <a:lnSpc>
                <a:spcPts val="2818"/>
              </a:lnSpc>
              <a:buAutoNum type="arabicPeriod" startAt="1"/>
            </a:pPr>
            <a:r>
              <a:rPr lang="en-US" b="true" sz="213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Mengulang tugas yang belum pasti jumlah iterasi awalnya (uncounted loop):</a:t>
            </a:r>
            <a:r>
              <a:rPr lang="en-US" sz="21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2818"/>
              </a:lnSpc>
            </a:pPr>
          </a:p>
          <a:p>
            <a:pPr algn="l" marL="460989" indent="-230495" lvl="1">
              <a:lnSpc>
                <a:spcPts val="2818"/>
              </a:lnSpc>
              <a:buAutoNum type="arabicPeriod" startAt="1"/>
            </a:pPr>
            <a:r>
              <a:rPr lang="en-US" sz="21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b="true" sz="213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tomatisasi tugas repetitif:</a:t>
            </a:r>
            <a:r>
              <a:rPr lang="en-US" sz="21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2818"/>
              </a:lnSpc>
            </a:pPr>
          </a:p>
          <a:p>
            <a:pPr algn="l" marL="460989" indent="-230495" lvl="1">
              <a:lnSpc>
                <a:spcPts val="2818"/>
              </a:lnSpc>
              <a:buAutoNum type="arabicPeriod" startAt="1"/>
            </a:pPr>
            <a:r>
              <a:rPr lang="en-US" sz="21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b="true" sz="213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engendalian alur berbasis kondisi:</a:t>
            </a:r>
            <a:r>
              <a:rPr lang="en-US" sz="21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ctr">
              <a:lnSpc>
                <a:spcPts val="281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2819" y="2188050"/>
            <a:ext cx="7695104" cy="6883432"/>
            <a:chOff x="0" y="0"/>
            <a:chExt cx="2026694" cy="1812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6694" cy="1812920"/>
            </a:xfrm>
            <a:custGeom>
              <a:avLst/>
              <a:gdLst/>
              <a:ahLst/>
              <a:cxnLst/>
              <a:rect r="r" b="b" t="t" l="l"/>
              <a:pathLst>
                <a:path h="1812920" w="2026694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52819" y="2188050"/>
            <a:ext cx="7695104" cy="6883432"/>
            <a:chOff x="0" y="0"/>
            <a:chExt cx="2026694" cy="1812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6694" cy="1812920"/>
            </a:xfrm>
            <a:custGeom>
              <a:avLst/>
              <a:gdLst/>
              <a:ahLst/>
              <a:cxnLst/>
              <a:rect r="r" b="b" t="t" l="l"/>
              <a:pathLst>
                <a:path h="1812920" w="2026694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235136" y="131214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90762" y="763126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7734975"/>
            <a:ext cx="2946941" cy="3046650"/>
          </a:xfrm>
          <a:custGeom>
            <a:avLst/>
            <a:gdLst/>
            <a:ahLst/>
            <a:cxnLst/>
            <a:rect r="r" b="b" t="t" l="l"/>
            <a:pathLst>
              <a:path h="3046650" w="2946941">
                <a:moveTo>
                  <a:pt x="0" y="0"/>
                </a:moveTo>
                <a:lnTo>
                  <a:pt x="2946941" y="0"/>
                </a:lnTo>
                <a:lnTo>
                  <a:pt x="2946941" y="3046650"/>
                </a:lnTo>
                <a:lnTo>
                  <a:pt x="0" y="3046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52621" y="1028700"/>
            <a:ext cx="3342979" cy="2048334"/>
          </a:xfrm>
          <a:custGeom>
            <a:avLst/>
            <a:gdLst/>
            <a:ahLst/>
            <a:cxnLst/>
            <a:rect r="r" b="b" t="t" l="l"/>
            <a:pathLst>
              <a:path h="2048334" w="3342979">
                <a:moveTo>
                  <a:pt x="0" y="0"/>
                </a:moveTo>
                <a:lnTo>
                  <a:pt x="3342978" y="0"/>
                </a:lnTo>
                <a:lnTo>
                  <a:pt x="3342978" y="2048334"/>
                </a:lnTo>
                <a:lnTo>
                  <a:pt x="0" y="20483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60180" y="4501833"/>
            <a:ext cx="5971866" cy="1626745"/>
          </a:xfrm>
          <a:custGeom>
            <a:avLst/>
            <a:gdLst/>
            <a:ahLst/>
            <a:cxnLst/>
            <a:rect r="r" b="b" t="t" l="l"/>
            <a:pathLst>
              <a:path h="1626745" w="5971866">
                <a:moveTo>
                  <a:pt x="0" y="0"/>
                </a:moveTo>
                <a:lnTo>
                  <a:pt x="5971866" y="0"/>
                </a:lnTo>
                <a:lnTo>
                  <a:pt x="5971866" y="1626744"/>
                </a:lnTo>
                <a:lnTo>
                  <a:pt x="0" y="1626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92195" y="4160453"/>
            <a:ext cx="4997773" cy="226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775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SINTAKS DASAR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21258" y="63115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7174582" y="1002668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22105" y="5579611"/>
            <a:ext cx="3550526" cy="3550526"/>
          </a:xfrm>
          <a:custGeom>
            <a:avLst/>
            <a:gdLst/>
            <a:ahLst/>
            <a:cxnLst/>
            <a:rect r="r" b="b" t="t" l="l"/>
            <a:pathLst>
              <a:path h="3550526" w="3550526">
                <a:moveTo>
                  <a:pt x="0" y="0"/>
                </a:moveTo>
                <a:lnTo>
                  <a:pt x="3550526" y="0"/>
                </a:lnTo>
                <a:lnTo>
                  <a:pt x="3550526" y="3550526"/>
                </a:lnTo>
                <a:lnTo>
                  <a:pt x="0" y="3550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95529" y="3986692"/>
            <a:ext cx="3206470" cy="3206470"/>
          </a:xfrm>
          <a:custGeom>
            <a:avLst/>
            <a:gdLst/>
            <a:ahLst/>
            <a:cxnLst/>
            <a:rect r="r" b="b" t="t" l="l"/>
            <a:pathLst>
              <a:path h="3206470" w="3206470">
                <a:moveTo>
                  <a:pt x="0" y="0"/>
                </a:moveTo>
                <a:lnTo>
                  <a:pt x="3206470" y="0"/>
                </a:lnTo>
                <a:lnTo>
                  <a:pt x="3206470" y="3206470"/>
                </a:lnTo>
                <a:lnTo>
                  <a:pt x="0" y="3206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22105" y="1560008"/>
            <a:ext cx="2986252" cy="2986252"/>
          </a:xfrm>
          <a:custGeom>
            <a:avLst/>
            <a:gdLst/>
            <a:ahLst/>
            <a:cxnLst/>
            <a:rect r="r" b="b" t="t" l="l"/>
            <a:pathLst>
              <a:path h="2986252" w="2986252">
                <a:moveTo>
                  <a:pt x="0" y="0"/>
                </a:moveTo>
                <a:lnTo>
                  <a:pt x="2986251" y="0"/>
                </a:lnTo>
                <a:lnTo>
                  <a:pt x="2986251" y="2986252"/>
                </a:lnTo>
                <a:lnTo>
                  <a:pt x="0" y="29862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84548" y="4111430"/>
            <a:ext cx="11610981" cy="236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6"/>
              </a:lnSpc>
            </a:pPr>
            <a:r>
              <a:rPr lang="en-US" sz="810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CARA KERJA PERULANGAN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697238" y="7144587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90762" y="1429370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9203" y="824352"/>
            <a:ext cx="1783714" cy="1783714"/>
          </a:xfrm>
          <a:custGeom>
            <a:avLst/>
            <a:gdLst/>
            <a:ahLst/>
            <a:cxnLst/>
            <a:rect r="r" b="b" t="t" l="l"/>
            <a:pathLst>
              <a:path h="1783714" w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24345" y="6229880"/>
            <a:ext cx="2802223" cy="2802223"/>
          </a:xfrm>
          <a:custGeom>
            <a:avLst/>
            <a:gdLst/>
            <a:ahLst/>
            <a:cxnLst/>
            <a:rect r="r" b="b" t="t" l="l"/>
            <a:pathLst>
              <a:path h="2802223" w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48562" y="2136841"/>
            <a:ext cx="10700631" cy="607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652" indent="-362326" lvl="1">
              <a:lnSpc>
                <a:spcPts val="4430"/>
              </a:lnSpc>
              <a:buAutoNum type="arabicPeriod" startAt="1"/>
            </a:pPr>
            <a:r>
              <a:rPr lang="en-US" sz="335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 memulai dengan total tabungan sebesar Rp0</a:t>
            </a:r>
          </a:p>
          <a:p>
            <a:pPr algn="l" marL="724652" indent="-362326" lvl="1">
              <a:lnSpc>
                <a:spcPts val="4430"/>
              </a:lnSpc>
              <a:buAutoNum type="arabicPeriod" startAt="1"/>
            </a:pPr>
            <a:r>
              <a:rPr lang="en-US" sz="335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 meminta pengguna memasukkan nominal tabungan</a:t>
            </a:r>
          </a:p>
          <a:p>
            <a:pPr algn="l" marL="724652" indent="-362326" lvl="1">
              <a:lnSpc>
                <a:spcPts val="4430"/>
              </a:lnSpc>
              <a:buAutoNum type="arabicPeriod" startAt="1"/>
            </a:pPr>
            <a:r>
              <a:rPr lang="en-US" sz="335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jika nominal yang dimasukkan bukan 0, nominal ditambahkan ke total tabungan</a:t>
            </a:r>
          </a:p>
          <a:p>
            <a:pPr algn="l" marL="724652" indent="-362326" lvl="1">
              <a:lnSpc>
                <a:spcPts val="4430"/>
              </a:lnSpc>
              <a:buAutoNum type="arabicPeriod" startAt="1"/>
            </a:pPr>
            <a:r>
              <a:rPr lang="en-US" sz="335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 kembali meminta nominal tabungan</a:t>
            </a:r>
          </a:p>
          <a:p>
            <a:pPr algn="l" marL="724652" indent="-362326" lvl="1">
              <a:lnSpc>
                <a:spcPts val="4430"/>
              </a:lnSpc>
              <a:buAutoNum type="arabicPeriod" startAt="1"/>
            </a:pPr>
            <a:r>
              <a:rPr lang="en-US" sz="335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jika pengguna memasukkan 0, perulangan dihentikan</a:t>
            </a:r>
          </a:p>
          <a:p>
            <a:pPr algn="l" marL="724652" indent="-362326" lvl="1">
              <a:lnSpc>
                <a:spcPts val="4430"/>
              </a:lnSpc>
              <a:buAutoNum type="arabicPeriod" startAt="1"/>
            </a:pPr>
            <a:r>
              <a:rPr lang="en-US" sz="335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program menampilkan total tabungan</a:t>
            </a:r>
          </a:p>
          <a:p>
            <a:pPr algn="l">
              <a:lnSpc>
                <a:spcPts val="443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71060" y="1716209"/>
            <a:ext cx="13776863" cy="7512553"/>
            <a:chOff x="0" y="0"/>
            <a:chExt cx="3628474" cy="1978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43817" y="1387224"/>
            <a:ext cx="13776863" cy="7512553"/>
            <a:chOff x="0" y="0"/>
            <a:chExt cx="3628474" cy="1978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8474" cy="1978615"/>
            </a:xfrm>
            <a:custGeom>
              <a:avLst/>
              <a:gdLst/>
              <a:ahLst/>
              <a:cxnLst/>
              <a:rect r="r" b="b" t="t" l="l"/>
              <a:pathLst>
                <a:path h="1978615" w="3628474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697238" y="7144587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90762" y="1429370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9203" y="824352"/>
            <a:ext cx="1783714" cy="1783714"/>
          </a:xfrm>
          <a:custGeom>
            <a:avLst/>
            <a:gdLst/>
            <a:ahLst/>
            <a:cxnLst/>
            <a:rect r="r" b="b" t="t" l="l"/>
            <a:pathLst>
              <a:path h="1783714" w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52921" y="3374916"/>
            <a:ext cx="13358656" cy="3051622"/>
          </a:xfrm>
          <a:custGeom>
            <a:avLst/>
            <a:gdLst/>
            <a:ahLst/>
            <a:cxnLst/>
            <a:rect r="r" b="b" t="t" l="l"/>
            <a:pathLst>
              <a:path h="3051622" w="13358656">
                <a:moveTo>
                  <a:pt x="0" y="0"/>
                </a:moveTo>
                <a:lnTo>
                  <a:pt x="13358656" y="0"/>
                </a:lnTo>
                <a:lnTo>
                  <a:pt x="13358656" y="3051622"/>
                </a:lnTo>
                <a:lnTo>
                  <a:pt x="0" y="30516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1303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638618" y="6426538"/>
            <a:ext cx="2802223" cy="2802223"/>
          </a:xfrm>
          <a:custGeom>
            <a:avLst/>
            <a:gdLst/>
            <a:ahLst/>
            <a:cxnLst/>
            <a:rect r="r" b="b" t="t" l="l"/>
            <a:pathLst>
              <a:path h="2802223" w="2802223">
                <a:moveTo>
                  <a:pt x="0" y="0"/>
                </a:moveTo>
                <a:lnTo>
                  <a:pt x="2802224" y="0"/>
                </a:lnTo>
                <a:lnTo>
                  <a:pt x="2802224" y="2802224"/>
                </a:lnTo>
                <a:lnTo>
                  <a:pt x="0" y="28022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33246" y="1873489"/>
            <a:ext cx="13858375" cy="7197992"/>
            <a:chOff x="0" y="0"/>
            <a:chExt cx="3649942" cy="18957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49942" cy="1895767"/>
            </a:xfrm>
            <a:custGeom>
              <a:avLst/>
              <a:gdLst/>
              <a:ahLst/>
              <a:cxnLst/>
              <a:rect r="r" b="b" t="t" l="l"/>
              <a:pathLst>
                <a:path h="1895767" w="3649942">
                  <a:moveTo>
                    <a:pt x="0" y="0"/>
                  </a:moveTo>
                  <a:lnTo>
                    <a:pt x="3649942" y="0"/>
                  </a:lnTo>
                  <a:lnTo>
                    <a:pt x="3649942" y="1895767"/>
                  </a:lnTo>
                  <a:lnTo>
                    <a:pt x="0" y="1895767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49942" cy="1933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933246" y="1873489"/>
            <a:ext cx="13524950" cy="6883432"/>
            <a:chOff x="0" y="0"/>
            <a:chExt cx="3562127" cy="1812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62127" cy="1812920"/>
            </a:xfrm>
            <a:custGeom>
              <a:avLst/>
              <a:gdLst/>
              <a:ahLst/>
              <a:cxnLst/>
              <a:rect r="r" b="b" t="t" l="l"/>
              <a:pathLst>
                <a:path h="1812920" w="3562127">
                  <a:moveTo>
                    <a:pt x="0" y="0"/>
                  </a:moveTo>
                  <a:lnTo>
                    <a:pt x="3562127" y="0"/>
                  </a:lnTo>
                  <a:lnTo>
                    <a:pt x="3562127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62127" cy="1851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235136" y="131214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90762" y="763126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77835" y="1028700"/>
            <a:ext cx="1773849" cy="1773849"/>
          </a:xfrm>
          <a:custGeom>
            <a:avLst/>
            <a:gdLst/>
            <a:ahLst/>
            <a:cxnLst/>
            <a:rect r="r" b="b" t="t" l="l"/>
            <a:pathLst>
              <a:path h="1773849" w="1773849">
                <a:moveTo>
                  <a:pt x="0" y="0"/>
                </a:moveTo>
                <a:lnTo>
                  <a:pt x="1773849" y="0"/>
                </a:lnTo>
                <a:lnTo>
                  <a:pt x="1773849" y="1773849"/>
                </a:lnTo>
                <a:lnTo>
                  <a:pt x="0" y="177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2102" y="7460334"/>
            <a:ext cx="2631465" cy="2468793"/>
          </a:xfrm>
          <a:custGeom>
            <a:avLst/>
            <a:gdLst/>
            <a:ahLst/>
            <a:cxnLst/>
            <a:rect r="r" b="b" t="t" l="l"/>
            <a:pathLst>
              <a:path h="2468793" w="2631465">
                <a:moveTo>
                  <a:pt x="0" y="0"/>
                </a:moveTo>
                <a:lnTo>
                  <a:pt x="2631465" y="0"/>
                </a:lnTo>
                <a:lnTo>
                  <a:pt x="2631465" y="2468793"/>
                </a:lnTo>
                <a:lnTo>
                  <a:pt x="0" y="24687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31243" y="2559029"/>
            <a:ext cx="10728955" cy="5168942"/>
          </a:xfrm>
          <a:custGeom>
            <a:avLst/>
            <a:gdLst/>
            <a:ahLst/>
            <a:cxnLst/>
            <a:rect r="r" b="b" t="t" l="l"/>
            <a:pathLst>
              <a:path h="5168942" w="10728955">
                <a:moveTo>
                  <a:pt x="0" y="0"/>
                </a:moveTo>
                <a:lnTo>
                  <a:pt x="10728955" y="0"/>
                </a:lnTo>
                <a:lnTo>
                  <a:pt x="10728955" y="5168942"/>
                </a:lnTo>
                <a:lnTo>
                  <a:pt x="0" y="51689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13450" y="860468"/>
            <a:ext cx="5243769" cy="88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9"/>
              </a:lnSpc>
            </a:pPr>
            <a:r>
              <a:rPr lang="en-US" sz="559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PSEUDOCODE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92723" y="2912149"/>
            <a:ext cx="2448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01695" y="-5708345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3" y="0"/>
                </a:lnTo>
                <a:lnTo>
                  <a:pt x="10597953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419" y="2822619"/>
            <a:ext cx="12455388" cy="6311125"/>
            <a:chOff x="0" y="0"/>
            <a:chExt cx="3280432" cy="1662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0432" cy="1662189"/>
            </a:xfrm>
            <a:custGeom>
              <a:avLst/>
              <a:gdLst/>
              <a:ahLst/>
              <a:cxnLst/>
              <a:rect r="r" b="b" t="t" l="l"/>
              <a:pathLst>
                <a:path h="1662189" w="3280432">
                  <a:moveTo>
                    <a:pt x="0" y="0"/>
                  </a:moveTo>
                  <a:lnTo>
                    <a:pt x="3280432" y="0"/>
                  </a:lnTo>
                  <a:lnTo>
                    <a:pt x="3280432" y="1662189"/>
                  </a:lnTo>
                  <a:lnTo>
                    <a:pt x="0" y="1662189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80432" cy="1700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63419" y="2852911"/>
            <a:ext cx="12019366" cy="5951554"/>
            <a:chOff x="0" y="0"/>
            <a:chExt cx="3165594" cy="1567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5594" cy="1567487"/>
            </a:xfrm>
            <a:custGeom>
              <a:avLst/>
              <a:gdLst/>
              <a:ahLst/>
              <a:cxnLst/>
              <a:rect r="r" b="b" t="t" l="l"/>
              <a:pathLst>
                <a:path h="1567487" w="3165594">
                  <a:moveTo>
                    <a:pt x="0" y="0"/>
                  </a:moveTo>
                  <a:lnTo>
                    <a:pt x="3165594" y="0"/>
                  </a:lnTo>
                  <a:lnTo>
                    <a:pt x="3165594" y="1567487"/>
                  </a:lnTo>
                  <a:lnTo>
                    <a:pt x="0" y="1567487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65594" cy="1605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921258" y="63115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4015915" y="9714044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69638" y="3842474"/>
            <a:ext cx="2709317" cy="507381"/>
          </a:xfrm>
          <a:custGeom>
            <a:avLst/>
            <a:gdLst/>
            <a:ahLst/>
            <a:cxnLst/>
            <a:rect r="r" b="b" t="t" l="l"/>
            <a:pathLst>
              <a:path h="507381" w="2709317">
                <a:moveTo>
                  <a:pt x="0" y="0"/>
                </a:moveTo>
                <a:lnTo>
                  <a:pt x="2709318" y="0"/>
                </a:lnTo>
                <a:lnTo>
                  <a:pt x="2709318" y="507381"/>
                </a:lnTo>
                <a:lnTo>
                  <a:pt x="0" y="5073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05673" y="4635605"/>
            <a:ext cx="2673283" cy="578401"/>
          </a:xfrm>
          <a:custGeom>
            <a:avLst/>
            <a:gdLst/>
            <a:ahLst/>
            <a:cxnLst/>
            <a:rect r="r" b="b" t="t" l="l"/>
            <a:pathLst>
              <a:path h="578401" w="2673283">
                <a:moveTo>
                  <a:pt x="0" y="0"/>
                </a:moveTo>
                <a:lnTo>
                  <a:pt x="2673283" y="0"/>
                </a:lnTo>
                <a:lnTo>
                  <a:pt x="2673283" y="578402"/>
                </a:lnTo>
                <a:lnTo>
                  <a:pt x="0" y="57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66320" y="2966184"/>
            <a:ext cx="2712636" cy="586916"/>
          </a:xfrm>
          <a:custGeom>
            <a:avLst/>
            <a:gdLst/>
            <a:ahLst/>
            <a:cxnLst/>
            <a:rect r="r" b="b" t="t" l="l"/>
            <a:pathLst>
              <a:path h="586916" w="2712636">
                <a:moveTo>
                  <a:pt x="0" y="0"/>
                </a:moveTo>
                <a:lnTo>
                  <a:pt x="2712636" y="0"/>
                </a:lnTo>
                <a:lnTo>
                  <a:pt x="2712636" y="586916"/>
                </a:lnTo>
                <a:lnTo>
                  <a:pt x="0" y="586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407520" y="3113587"/>
            <a:ext cx="1457774" cy="145777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22345" y="5322984"/>
            <a:ext cx="2028126" cy="1042136"/>
            <a:chOff x="0" y="0"/>
            <a:chExt cx="534157" cy="2744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4157" cy="274472"/>
            </a:xfrm>
            <a:custGeom>
              <a:avLst/>
              <a:gdLst/>
              <a:ahLst/>
              <a:cxnLst/>
              <a:rect r="r" b="b" t="t" l="l"/>
              <a:pathLst>
                <a:path h="274472" w="534157">
                  <a:moveTo>
                    <a:pt x="137236" y="0"/>
                  </a:moveTo>
                  <a:lnTo>
                    <a:pt x="396921" y="0"/>
                  </a:lnTo>
                  <a:cubicBezTo>
                    <a:pt x="433318" y="0"/>
                    <a:pt x="468224" y="14459"/>
                    <a:pt x="493961" y="40195"/>
                  </a:cubicBezTo>
                  <a:cubicBezTo>
                    <a:pt x="519698" y="65932"/>
                    <a:pt x="534157" y="100839"/>
                    <a:pt x="534157" y="137236"/>
                  </a:cubicBezTo>
                  <a:lnTo>
                    <a:pt x="534157" y="137236"/>
                  </a:lnTo>
                  <a:cubicBezTo>
                    <a:pt x="534157" y="173633"/>
                    <a:pt x="519698" y="208540"/>
                    <a:pt x="493961" y="234276"/>
                  </a:cubicBezTo>
                  <a:cubicBezTo>
                    <a:pt x="468224" y="260013"/>
                    <a:pt x="433318" y="274472"/>
                    <a:pt x="396921" y="274472"/>
                  </a:cubicBezTo>
                  <a:lnTo>
                    <a:pt x="137236" y="274472"/>
                  </a:lnTo>
                  <a:cubicBezTo>
                    <a:pt x="100839" y="274472"/>
                    <a:pt x="65932" y="260013"/>
                    <a:pt x="40195" y="234276"/>
                  </a:cubicBezTo>
                  <a:cubicBezTo>
                    <a:pt x="14459" y="208540"/>
                    <a:pt x="0" y="173633"/>
                    <a:pt x="0" y="137236"/>
                  </a:cubicBezTo>
                  <a:lnTo>
                    <a:pt x="0" y="137236"/>
                  </a:lnTo>
                  <a:cubicBezTo>
                    <a:pt x="0" y="100839"/>
                    <a:pt x="14459" y="65932"/>
                    <a:pt x="40195" y="40195"/>
                  </a:cubicBezTo>
                  <a:cubicBezTo>
                    <a:pt x="65932" y="14459"/>
                    <a:pt x="100839" y="0"/>
                    <a:pt x="1372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34157" cy="312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92456" y="5292256"/>
            <a:ext cx="2332368" cy="1072863"/>
            <a:chOff x="0" y="0"/>
            <a:chExt cx="1325249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5249" cy="609600"/>
            </a:xfrm>
            <a:custGeom>
              <a:avLst/>
              <a:gdLst/>
              <a:ahLst/>
              <a:cxnLst/>
              <a:rect r="r" b="b" t="t" l="l"/>
              <a:pathLst>
                <a:path h="609600" w="1325249">
                  <a:moveTo>
                    <a:pt x="203200" y="0"/>
                  </a:moveTo>
                  <a:lnTo>
                    <a:pt x="1325249" y="0"/>
                  </a:lnTo>
                  <a:lnTo>
                    <a:pt x="112204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12204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41058" y="3000442"/>
            <a:ext cx="1635164" cy="16351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122345" y="1382201"/>
            <a:ext cx="7966613" cy="110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8"/>
              </a:lnSpc>
            </a:pPr>
            <a:r>
              <a:rPr lang="en-US" sz="697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FLOWCHART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591040" y="3296956"/>
            <a:ext cx="3395059" cy="1042136"/>
            <a:chOff x="0" y="0"/>
            <a:chExt cx="894172" cy="274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4172" cy="274472"/>
            </a:xfrm>
            <a:custGeom>
              <a:avLst/>
              <a:gdLst/>
              <a:ahLst/>
              <a:cxnLst/>
              <a:rect r="r" b="b" t="t" l="l"/>
              <a:pathLst>
                <a:path h="274472" w="894172">
                  <a:moveTo>
                    <a:pt x="116298" y="0"/>
                  </a:moveTo>
                  <a:lnTo>
                    <a:pt x="777874" y="0"/>
                  </a:lnTo>
                  <a:cubicBezTo>
                    <a:pt x="808718" y="0"/>
                    <a:pt x="838299" y="12253"/>
                    <a:pt x="860109" y="34063"/>
                  </a:cubicBezTo>
                  <a:cubicBezTo>
                    <a:pt x="881919" y="55873"/>
                    <a:pt x="894172" y="85454"/>
                    <a:pt x="894172" y="116298"/>
                  </a:cubicBezTo>
                  <a:lnTo>
                    <a:pt x="894172" y="158174"/>
                  </a:lnTo>
                  <a:cubicBezTo>
                    <a:pt x="894172" y="189018"/>
                    <a:pt x="881919" y="218599"/>
                    <a:pt x="860109" y="240409"/>
                  </a:cubicBezTo>
                  <a:cubicBezTo>
                    <a:pt x="838299" y="262219"/>
                    <a:pt x="808718" y="274472"/>
                    <a:pt x="777874" y="274472"/>
                  </a:cubicBezTo>
                  <a:lnTo>
                    <a:pt x="116298" y="274472"/>
                  </a:lnTo>
                  <a:cubicBezTo>
                    <a:pt x="85454" y="274472"/>
                    <a:pt x="55873" y="262219"/>
                    <a:pt x="34063" y="240409"/>
                  </a:cubicBezTo>
                  <a:cubicBezTo>
                    <a:pt x="12253" y="218599"/>
                    <a:pt x="0" y="189018"/>
                    <a:pt x="0" y="158174"/>
                  </a:cubicBezTo>
                  <a:lnTo>
                    <a:pt x="0" y="116298"/>
                  </a:lnTo>
                  <a:cubicBezTo>
                    <a:pt x="0" y="85454"/>
                    <a:pt x="12253" y="55873"/>
                    <a:pt x="34063" y="34063"/>
                  </a:cubicBezTo>
                  <a:cubicBezTo>
                    <a:pt x="55873" y="12253"/>
                    <a:pt x="85454" y="0"/>
                    <a:pt x="11629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94172" cy="312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22386" y="5307620"/>
            <a:ext cx="2332368" cy="1072863"/>
            <a:chOff x="0" y="0"/>
            <a:chExt cx="1325249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25249" cy="609600"/>
            </a:xfrm>
            <a:custGeom>
              <a:avLst/>
              <a:gdLst/>
              <a:ahLst/>
              <a:cxnLst/>
              <a:rect r="r" b="b" t="t" l="l"/>
              <a:pathLst>
                <a:path h="609600" w="1325249">
                  <a:moveTo>
                    <a:pt x="203200" y="0"/>
                  </a:moveTo>
                  <a:lnTo>
                    <a:pt x="1325249" y="0"/>
                  </a:lnTo>
                  <a:lnTo>
                    <a:pt x="112204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1600" y="-38100"/>
              <a:ext cx="112204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0" y="7302787"/>
            <a:ext cx="3625012" cy="1072863"/>
            <a:chOff x="0" y="0"/>
            <a:chExt cx="2059728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59728" cy="609600"/>
            </a:xfrm>
            <a:custGeom>
              <a:avLst/>
              <a:gdLst/>
              <a:ahLst/>
              <a:cxnLst/>
              <a:rect r="r" b="b" t="t" l="l"/>
              <a:pathLst>
                <a:path h="609600" w="2059728">
                  <a:moveTo>
                    <a:pt x="203200" y="0"/>
                  </a:moveTo>
                  <a:lnTo>
                    <a:pt x="2059728" y="0"/>
                  </a:lnTo>
                  <a:lnTo>
                    <a:pt x="185652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38100"/>
              <a:ext cx="1856528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10616" y="4587984"/>
            <a:ext cx="1457774" cy="145777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 flipH="true">
            <a:off x="3136407" y="4571361"/>
            <a:ext cx="0" cy="7516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V="true">
            <a:off x="4150470" y="5828688"/>
            <a:ext cx="1020796" cy="153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7198607" y="3818024"/>
            <a:ext cx="117335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 flipV="true">
            <a:off x="6158640" y="4635605"/>
            <a:ext cx="60365" cy="6044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2620431" y="3669853"/>
            <a:ext cx="1031953" cy="42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68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START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28826" y="5701540"/>
            <a:ext cx="1921644" cy="2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TOTAL TABUNGAN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03180" y="5686176"/>
            <a:ext cx="1921644" cy="2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INPUT NOMINAL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46507" y="3675512"/>
            <a:ext cx="1921644" cy="2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NOMINAL!=0?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855152" y="3543575"/>
            <a:ext cx="3754075" cy="51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TOTAL TABUNGAN=</a:t>
            </a:r>
          </a:p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TOTAL_TABUNGAN +NOMINAL</a:t>
            </a:r>
          </a:p>
        </p:txBody>
      </p:sp>
      <p:sp>
        <p:nvSpPr>
          <p:cNvPr name="AutoShape 48" id="48"/>
          <p:cNvSpPr/>
          <p:nvPr/>
        </p:nvSpPr>
        <p:spPr>
          <a:xfrm>
            <a:off x="8371965" y="7588828"/>
            <a:ext cx="89250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10288570" y="4339091"/>
            <a:ext cx="57312" cy="80440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0" id="50"/>
          <p:cNvSpPr txBox="true"/>
          <p:nvPr/>
        </p:nvSpPr>
        <p:spPr>
          <a:xfrm rot="0">
            <a:off x="9616463" y="5583845"/>
            <a:ext cx="3341654" cy="4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56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INPUT NOMINAL</a:t>
            </a:r>
          </a:p>
          <a:p>
            <a:pPr algn="l">
              <a:lnSpc>
                <a:spcPts val="1653"/>
              </a:lnSpc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9410252" y="7628259"/>
            <a:ext cx="3754075" cy="51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OUTPUT TOTAL</a:t>
            </a:r>
          </a:p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TABUNGAN:TOTAL_TABUNGAN</a:t>
            </a:r>
          </a:p>
        </p:txBody>
      </p:sp>
      <p:sp>
        <p:nvSpPr>
          <p:cNvPr name="AutoShape 52" id="52"/>
          <p:cNvSpPr/>
          <p:nvPr/>
        </p:nvSpPr>
        <p:spPr>
          <a:xfrm flipV="true">
            <a:off x="11986099" y="6039136"/>
            <a:ext cx="323205" cy="10467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>
            <a:off x="6976222" y="4339091"/>
            <a:ext cx="13957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H="true" flipV="true">
            <a:off x="8371965" y="4339091"/>
            <a:ext cx="0" cy="32497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7923634" y="7696706"/>
            <a:ext cx="3754075" cy="2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TIDAK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533215" y="3494900"/>
            <a:ext cx="3754075" cy="2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YA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769012" y="5317871"/>
            <a:ext cx="3754075" cy="2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5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45024" y="-5454452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33246" y="1873489"/>
            <a:ext cx="13858375" cy="7197992"/>
            <a:chOff x="0" y="0"/>
            <a:chExt cx="3649942" cy="18957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49942" cy="1895767"/>
            </a:xfrm>
            <a:custGeom>
              <a:avLst/>
              <a:gdLst/>
              <a:ahLst/>
              <a:cxnLst/>
              <a:rect r="r" b="b" t="t" l="l"/>
              <a:pathLst>
                <a:path h="1895767" w="3649942">
                  <a:moveTo>
                    <a:pt x="0" y="0"/>
                  </a:moveTo>
                  <a:lnTo>
                    <a:pt x="3649942" y="0"/>
                  </a:lnTo>
                  <a:lnTo>
                    <a:pt x="3649942" y="1895767"/>
                  </a:lnTo>
                  <a:lnTo>
                    <a:pt x="0" y="1895767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49942" cy="1933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65813" y="1811299"/>
            <a:ext cx="13524950" cy="6883432"/>
            <a:chOff x="0" y="0"/>
            <a:chExt cx="3562127" cy="1812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62127" cy="1812920"/>
            </a:xfrm>
            <a:custGeom>
              <a:avLst/>
              <a:gdLst/>
              <a:ahLst/>
              <a:cxnLst/>
              <a:rect r="r" b="b" t="t" l="l"/>
              <a:pathLst>
                <a:path h="1812920" w="3562127">
                  <a:moveTo>
                    <a:pt x="0" y="0"/>
                  </a:moveTo>
                  <a:lnTo>
                    <a:pt x="3562127" y="0"/>
                  </a:lnTo>
                  <a:lnTo>
                    <a:pt x="3562127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62127" cy="1851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235136" y="131214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90762" y="7631269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77835" y="1028700"/>
            <a:ext cx="1773849" cy="1773849"/>
          </a:xfrm>
          <a:custGeom>
            <a:avLst/>
            <a:gdLst/>
            <a:ahLst/>
            <a:cxnLst/>
            <a:rect r="r" b="b" t="t" l="l"/>
            <a:pathLst>
              <a:path h="1773849" w="1773849">
                <a:moveTo>
                  <a:pt x="0" y="0"/>
                </a:moveTo>
                <a:lnTo>
                  <a:pt x="1773849" y="0"/>
                </a:lnTo>
                <a:lnTo>
                  <a:pt x="1773849" y="1773849"/>
                </a:lnTo>
                <a:lnTo>
                  <a:pt x="0" y="177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2102" y="7460334"/>
            <a:ext cx="2631465" cy="2468793"/>
          </a:xfrm>
          <a:custGeom>
            <a:avLst/>
            <a:gdLst/>
            <a:ahLst/>
            <a:cxnLst/>
            <a:rect r="r" b="b" t="t" l="l"/>
            <a:pathLst>
              <a:path h="2468793" w="2631465">
                <a:moveTo>
                  <a:pt x="0" y="0"/>
                </a:moveTo>
                <a:lnTo>
                  <a:pt x="2631465" y="0"/>
                </a:lnTo>
                <a:lnTo>
                  <a:pt x="2631465" y="2468793"/>
                </a:lnTo>
                <a:lnTo>
                  <a:pt x="0" y="24687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24721" y="3463013"/>
            <a:ext cx="11732401" cy="3360973"/>
          </a:xfrm>
          <a:custGeom>
            <a:avLst/>
            <a:gdLst/>
            <a:ahLst/>
            <a:cxnLst/>
            <a:rect r="r" b="b" t="t" l="l"/>
            <a:pathLst>
              <a:path h="3360973" w="11732401">
                <a:moveTo>
                  <a:pt x="0" y="0"/>
                </a:moveTo>
                <a:lnTo>
                  <a:pt x="11732400" y="0"/>
                </a:lnTo>
                <a:lnTo>
                  <a:pt x="11732400" y="3360974"/>
                </a:lnTo>
                <a:lnTo>
                  <a:pt x="0" y="3360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13450" y="860468"/>
            <a:ext cx="5243769" cy="88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9"/>
              </a:lnSpc>
            </a:pPr>
            <a:r>
              <a:rPr lang="en-US" sz="559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01695" y="-5708345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3" y="0"/>
                </a:lnTo>
                <a:lnTo>
                  <a:pt x="10597953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419" y="2822619"/>
            <a:ext cx="12455388" cy="6311125"/>
            <a:chOff x="0" y="0"/>
            <a:chExt cx="3280432" cy="1662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0432" cy="1662189"/>
            </a:xfrm>
            <a:custGeom>
              <a:avLst/>
              <a:gdLst/>
              <a:ahLst/>
              <a:cxnLst/>
              <a:rect r="r" b="b" t="t" l="l"/>
              <a:pathLst>
                <a:path h="1662189" w="3280432">
                  <a:moveTo>
                    <a:pt x="0" y="0"/>
                  </a:moveTo>
                  <a:lnTo>
                    <a:pt x="3280432" y="0"/>
                  </a:lnTo>
                  <a:lnTo>
                    <a:pt x="3280432" y="1662189"/>
                  </a:lnTo>
                  <a:lnTo>
                    <a:pt x="0" y="1662189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80432" cy="1700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91994" y="2847724"/>
            <a:ext cx="12019366" cy="5951554"/>
            <a:chOff x="0" y="0"/>
            <a:chExt cx="3165594" cy="1567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5594" cy="1567487"/>
            </a:xfrm>
            <a:custGeom>
              <a:avLst/>
              <a:gdLst/>
              <a:ahLst/>
              <a:cxnLst/>
              <a:rect r="r" b="b" t="t" l="l"/>
              <a:pathLst>
                <a:path h="1567487" w="3165594">
                  <a:moveTo>
                    <a:pt x="0" y="0"/>
                  </a:moveTo>
                  <a:lnTo>
                    <a:pt x="3165594" y="0"/>
                  </a:lnTo>
                  <a:lnTo>
                    <a:pt x="3165594" y="1567487"/>
                  </a:lnTo>
                  <a:lnTo>
                    <a:pt x="0" y="1567487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65594" cy="1605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921258" y="63115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4015915" y="9714044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69638" y="3813266"/>
            <a:ext cx="2712636" cy="508003"/>
          </a:xfrm>
          <a:custGeom>
            <a:avLst/>
            <a:gdLst/>
            <a:ahLst/>
            <a:cxnLst/>
            <a:rect r="r" b="b" t="t" l="l"/>
            <a:pathLst>
              <a:path h="508003" w="2712636">
                <a:moveTo>
                  <a:pt x="0" y="0"/>
                </a:moveTo>
                <a:lnTo>
                  <a:pt x="2712636" y="0"/>
                </a:lnTo>
                <a:lnTo>
                  <a:pt x="2712636" y="508003"/>
                </a:lnTo>
                <a:lnTo>
                  <a:pt x="0" y="508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08991" y="4578444"/>
            <a:ext cx="2673283" cy="578401"/>
          </a:xfrm>
          <a:custGeom>
            <a:avLst/>
            <a:gdLst/>
            <a:ahLst/>
            <a:cxnLst/>
            <a:rect r="r" b="b" t="t" l="l"/>
            <a:pathLst>
              <a:path h="578401" w="2673283">
                <a:moveTo>
                  <a:pt x="0" y="0"/>
                </a:moveTo>
                <a:lnTo>
                  <a:pt x="2673283" y="0"/>
                </a:lnTo>
                <a:lnTo>
                  <a:pt x="2673283" y="578401"/>
                </a:lnTo>
                <a:lnTo>
                  <a:pt x="0" y="5784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66320" y="2966184"/>
            <a:ext cx="2712636" cy="586916"/>
          </a:xfrm>
          <a:custGeom>
            <a:avLst/>
            <a:gdLst/>
            <a:ahLst/>
            <a:cxnLst/>
            <a:rect r="r" b="b" t="t" l="l"/>
            <a:pathLst>
              <a:path h="586916" w="2712636">
                <a:moveTo>
                  <a:pt x="0" y="0"/>
                </a:moveTo>
                <a:lnTo>
                  <a:pt x="2712636" y="0"/>
                </a:lnTo>
                <a:lnTo>
                  <a:pt x="2712636" y="586916"/>
                </a:lnTo>
                <a:lnTo>
                  <a:pt x="0" y="586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75333" y="1382201"/>
            <a:ext cx="7966613" cy="110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8"/>
              </a:lnSpc>
            </a:pPr>
            <a:r>
              <a:rPr lang="en-US" sz="697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KESIMPULAN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1462" y="3735703"/>
            <a:ext cx="10820825" cy="384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8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KESIMPULAN</a:t>
            </a:r>
          </a:p>
          <a:p>
            <a:pPr algn="l">
              <a:lnSpc>
                <a:spcPts val="1919"/>
              </a:lnSpc>
            </a:pPr>
          </a:p>
          <a:p>
            <a:pPr algn="l">
              <a:lnSpc>
                <a:spcPts val="1919"/>
              </a:lnSpc>
            </a:pPr>
            <a:r>
              <a:rPr lang="en-US" sz="18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 Pengertian: While adalah perulangan yang berjalan selama kondisi bernilai benar (true).</a:t>
            </a:r>
          </a:p>
          <a:p>
            <a:pPr algn="l">
              <a:lnSpc>
                <a:spcPts val="1919"/>
              </a:lnSpc>
            </a:pPr>
          </a:p>
          <a:p>
            <a:pPr algn="l">
              <a:lnSpc>
                <a:spcPts val="1919"/>
              </a:lnSpc>
            </a:pPr>
            <a:r>
              <a:rPr lang="en-US" sz="18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 Fungsi: Mengulang perintah tanpa harus menulis kode yang sama berkali-kali.</a:t>
            </a:r>
          </a:p>
          <a:p>
            <a:pPr algn="l">
              <a:lnSpc>
                <a:spcPts val="1919"/>
              </a:lnSpc>
            </a:pPr>
          </a:p>
          <a:p>
            <a:pPr algn="l">
              <a:lnSpc>
                <a:spcPts val="1919"/>
              </a:lnSpc>
            </a:pPr>
            <a:r>
              <a:rPr lang="en-US" sz="18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 Penggunaan: Cocok ketika jumlah pengulangan belum diketahui secara pasti.</a:t>
            </a:r>
          </a:p>
          <a:p>
            <a:pPr algn="l">
              <a:lnSpc>
                <a:spcPts val="1919"/>
              </a:lnSpc>
            </a:pPr>
          </a:p>
          <a:p>
            <a:pPr algn="l">
              <a:lnSpc>
                <a:spcPts val="1919"/>
              </a:lnSpc>
            </a:pPr>
            <a:r>
              <a:rPr lang="en-US" sz="18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 Cara berhenti: Perulangan berhenti ketika kondisi bernilai salah (false).</a:t>
            </a:r>
          </a:p>
          <a:p>
            <a:pPr algn="l">
              <a:lnSpc>
                <a:spcPts val="1919"/>
              </a:lnSpc>
            </a:pPr>
          </a:p>
          <a:p>
            <a:pPr algn="l">
              <a:lnSpc>
                <a:spcPts val="1919"/>
              </a:lnSpc>
            </a:pPr>
            <a:r>
              <a:rPr lang="en-US" sz="18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* Contoh penerapan: Program tabungan menjumlahkan nominal uang sampai pengguna memasukkan angka `0`.</a:t>
            </a:r>
          </a:p>
          <a:p>
            <a:pPr algn="l">
              <a:lnSpc>
                <a:spcPts val="191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448065" y="-5730308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5"/>
                </a:lnTo>
                <a:lnTo>
                  <a:pt x="0" y="2119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419" y="1885487"/>
            <a:ext cx="12455388" cy="6311125"/>
            <a:chOff x="0" y="0"/>
            <a:chExt cx="3280432" cy="1662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0432" cy="1662189"/>
            </a:xfrm>
            <a:custGeom>
              <a:avLst/>
              <a:gdLst/>
              <a:ahLst/>
              <a:cxnLst/>
              <a:rect r="r" b="b" t="t" l="l"/>
              <a:pathLst>
                <a:path h="1662189" w="3280432">
                  <a:moveTo>
                    <a:pt x="0" y="0"/>
                  </a:moveTo>
                  <a:lnTo>
                    <a:pt x="3280432" y="0"/>
                  </a:lnTo>
                  <a:lnTo>
                    <a:pt x="3280432" y="1662189"/>
                  </a:lnTo>
                  <a:lnTo>
                    <a:pt x="0" y="1662189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80432" cy="1700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99441" y="1891868"/>
            <a:ext cx="12019366" cy="5951554"/>
            <a:chOff x="0" y="0"/>
            <a:chExt cx="3165594" cy="1567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5594" cy="1567487"/>
            </a:xfrm>
            <a:custGeom>
              <a:avLst/>
              <a:gdLst/>
              <a:ahLst/>
              <a:cxnLst/>
              <a:rect r="r" b="b" t="t" l="l"/>
              <a:pathLst>
                <a:path h="1567487" w="3165594">
                  <a:moveTo>
                    <a:pt x="0" y="0"/>
                  </a:moveTo>
                  <a:lnTo>
                    <a:pt x="3165594" y="0"/>
                  </a:lnTo>
                  <a:lnTo>
                    <a:pt x="3165594" y="1567487"/>
                  </a:lnTo>
                  <a:lnTo>
                    <a:pt x="0" y="1567487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65594" cy="1605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921258" y="63115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4015915" y="9714044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79245" y="1221125"/>
            <a:ext cx="2712636" cy="508003"/>
          </a:xfrm>
          <a:custGeom>
            <a:avLst/>
            <a:gdLst/>
            <a:ahLst/>
            <a:cxnLst/>
            <a:rect r="r" b="b" t="t" l="l"/>
            <a:pathLst>
              <a:path h="508003" w="2712636">
                <a:moveTo>
                  <a:pt x="0" y="0"/>
                </a:moveTo>
                <a:lnTo>
                  <a:pt x="2712636" y="0"/>
                </a:lnTo>
                <a:lnTo>
                  <a:pt x="2712636" y="508003"/>
                </a:lnTo>
                <a:lnTo>
                  <a:pt x="0" y="508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181818" y="2263220"/>
            <a:ext cx="5024692" cy="49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363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SESI TANYA JAWAB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3102" y="6698941"/>
            <a:ext cx="1642123" cy="77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6"/>
              </a:lnSpc>
            </a:pPr>
            <a:r>
              <a:rPr lang="en-US" sz="486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-K2-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97088" y="3295525"/>
            <a:ext cx="10937205" cy="363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2"/>
              </a:lnSpc>
            </a:pPr>
            <a:r>
              <a:rPr lang="en-US" sz="453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 TAKUT DIJEJERIN AMA SEMUA MASA LALUNYA.</a:t>
            </a:r>
          </a:p>
          <a:p>
            <a:pPr algn="l">
              <a:lnSpc>
                <a:spcPts val="4802"/>
              </a:lnSpc>
            </a:pPr>
          </a:p>
          <a:p>
            <a:pPr algn="l">
              <a:lnSpc>
                <a:spcPts val="4802"/>
              </a:lnSpc>
            </a:pPr>
            <a:r>
              <a:rPr lang="en-US" sz="453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P,SAVE KLMPK 2 CUMA TAKUT GA SOLAT SUBUH + GABISA JAWAB PERTANYAAN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448065" y="-5730308"/>
            <a:ext cx="10597952" cy="21195905"/>
          </a:xfrm>
          <a:custGeom>
            <a:avLst/>
            <a:gdLst/>
            <a:ahLst/>
            <a:cxnLst/>
            <a:rect r="r" b="b" t="t" l="l"/>
            <a:pathLst>
              <a:path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5"/>
                </a:lnTo>
                <a:lnTo>
                  <a:pt x="0" y="2119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419" y="1885487"/>
            <a:ext cx="12455388" cy="6311125"/>
            <a:chOff x="0" y="0"/>
            <a:chExt cx="3280432" cy="1662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0432" cy="1662189"/>
            </a:xfrm>
            <a:custGeom>
              <a:avLst/>
              <a:gdLst/>
              <a:ahLst/>
              <a:cxnLst/>
              <a:rect r="r" b="b" t="t" l="l"/>
              <a:pathLst>
                <a:path h="1662189" w="3280432">
                  <a:moveTo>
                    <a:pt x="0" y="0"/>
                  </a:moveTo>
                  <a:lnTo>
                    <a:pt x="3280432" y="0"/>
                  </a:lnTo>
                  <a:lnTo>
                    <a:pt x="3280432" y="1662189"/>
                  </a:lnTo>
                  <a:lnTo>
                    <a:pt x="0" y="1662189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80432" cy="1700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99441" y="1891868"/>
            <a:ext cx="12019366" cy="5951554"/>
            <a:chOff x="0" y="0"/>
            <a:chExt cx="3165594" cy="1567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5594" cy="1567487"/>
            </a:xfrm>
            <a:custGeom>
              <a:avLst/>
              <a:gdLst/>
              <a:ahLst/>
              <a:cxnLst/>
              <a:rect r="r" b="b" t="t" l="l"/>
              <a:pathLst>
                <a:path h="1567487" w="3165594">
                  <a:moveTo>
                    <a:pt x="0" y="0"/>
                  </a:moveTo>
                  <a:lnTo>
                    <a:pt x="3165594" y="0"/>
                  </a:lnTo>
                  <a:lnTo>
                    <a:pt x="3165594" y="1567487"/>
                  </a:lnTo>
                  <a:lnTo>
                    <a:pt x="0" y="1567487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65594" cy="1605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1921258" y="631156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4015915" y="9714044"/>
            <a:ext cx="3394476" cy="1857704"/>
          </a:xfrm>
          <a:custGeom>
            <a:avLst/>
            <a:gdLst/>
            <a:ahLst/>
            <a:cxnLst/>
            <a:rect r="r" b="b" t="t" l="l"/>
            <a:pathLst>
              <a:path h="1857704" w="3394476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79245" y="1221125"/>
            <a:ext cx="2712636" cy="508003"/>
          </a:xfrm>
          <a:custGeom>
            <a:avLst/>
            <a:gdLst/>
            <a:ahLst/>
            <a:cxnLst/>
            <a:rect r="r" b="b" t="t" l="l"/>
            <a:pathLst>
              <a:path h="508003" w="2712636">
                <a:moveTo>
                  <a:pt x="0" y="0"/>
                </a:moveTo>
                <a:lnTo>
                  <a:pt x="2712636" y="0"/>
                </a:lnTo>
                <a:lnTo>
                  <a:pt x="2712636" y="508003"/>
                </a:lnTo>
                <a:lnTo>
                  <a:pt x="0" y="508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90533" y="4004523"/>
            <a:ext cx="8690061" cy="113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4"/>
              </a:lnSpc>
            </a:pPr>
            <a:r>
              <a:rPr lang="en-US" sz="826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 KASIH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3102" y="6698941"/>
            <a:ext cx="1642123" cy="77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6"/>
              </a:lnSpc>
            </a:pPr>
            <a:r>
              <a:rPr lang="en-US" sz="486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-K2-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DAHX2K_R8U4</dc:identifier>
  <dcterms:modified xsi:type="dcterms:W3CDTF">2011-08-01T06:04:30Z</dcterms:modified>
  <cp:revision>1</cp:revision>
  <dc:title>Purple White and Grey Pixelated Retro Interface Presentation</dc:title>
</cp:coreProperties>
</file>